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1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venir Next"/>
              </a:rPr>
              <a:t>MULTI-TENANT AGENT EXECUTION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8FAFC"/>
                </a:solidFill>
                <a:latin typeface="Avenir Next"/>
              </a:rPr>
              <a:t>Pi 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4A3B8"/>
                </a:solidFill>
                <a:latin typeface="PingFang SC"/>
              </a:rPr>
              <a:t>基于 Pi Coding Agent 构建的多租户 Agent 执行平台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PingFang SC"/>
              </a:rPr>
              <a:t>会话管理 · SSE 流式输出 · bwrap 沙盒隔离 · MCP 工具扩展 · Skill 渐进式披露 · 本地知识库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2542032" cy="1783080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430682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197096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PingFang SC"/>
              </a:rPr>
              <a:t>安全隔离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581144"/>
            <a:ext cx="20848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bwrap 双重沙盒 + 网络白名单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最小攻击面，纵深防御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2542032" cy="54864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3977639"/>
            <a:ext cx="2542032" cy="1783080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95344" y="4306824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4197096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PingFang SC"/>
              </a:rPr>
              <a:t>异步解耦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4581144"/>
            <a:ext cx="20848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消息队列驱动，接口层 / 执行层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独立扩展、互不阻塞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977639"/>
            <a:ext cx="2542032" cy="54864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2542032" cy="1783080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38544" y="43068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197096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PingFang SC"/>
              </a:rPr>
              <a:t>热更新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581144"/>
            <a:ext cx="20848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LLM / MCP 配置零停机生效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无需重启任何服务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77639"/>
            <a:ext cx="2542032" cy="54864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3977639"/>
            <a:ext cx="2542032" cy="1783080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81744" y="43068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4197096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PingFang SC"/>
              </a:rPr>
              <a:t>开放生态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4581144"/>
            <a:ext cx="20848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MCP 标准协议接入工具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4A3B8"/>
                </a:solidFill>
                <a:latin typeface="PingFang SC"/>
              </a:rPr>
              <a:t>Skill 渐进式披露能力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977639"/>
            <a:ext cx="2542032" cy="54864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React+Vite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598932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FastAPI ×4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98932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Node.js Runtime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75020" y="598932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bwrap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598932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Redis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0980" y="598932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MongoDB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4272" y="598932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MCP 协议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22408" y="5989320"/>
            <a:ext cx="608076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94A3B8"/>
                </a:solidFill>
                <a:latin typeface="PingFang SC"/>
              </a:rPr>
              <a:t>NFS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项目介绍 · 分层架构 / 协作时序 / 交互设计 / MCP+Skill 协作机制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venir Next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8FAFC"/>
                </a:solidFill>
                <a:latin typeface="PingFang SC"/>
              </a:rPr>
              <a:t>分层架构 · 三层微服务 + 扩展层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PingFang SC"/>
              </a:rPr>
              <a:t>职责分离、依赖单向流动：接口层 → 执行层 → 持久化层，扩展层通过 Unix Socket 被执行层调用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2700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Pi Agent Platform · 多租户 Agent 执行平台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02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6903720" cy="1115568"/>
          </a:xfrm>
          <a:prstGeom prst="roundRect">
            <a:avLst>
              <a:gd name="adj" fmla="val 7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82296" cy="111556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47088"/>
            <a:ext cx="6446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PingFang SC"/>
              </a:rPr>
              <a:t>接口层 · 对外暴露 HTTP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212848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frontend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:3000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5432" y="2212848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gateway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:8000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4751" y="2212848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admin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:9000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737360"/>
            <a:ext cx="3456432" cy="2624327"/>
          </a:xfrm>
          <a:prstGeom prst="roundRect">
            <a:avLst>
              <a:gd name="adj" fmla="val 7000"/>
            </a:avLst>
          </a:prstGeom>
          <a:solidFill>
            <a:srgbClr val="121B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1737360"/>
            <a:ext cx="82296" cy="2624327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865376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PingFang SC"/>
              </a:rPr>
              <a:t>扩展层 · 外部能力代理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2249424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8FAFC"/>
                </a:solidFill>
                <a:latin typeface="PingFang SC"/>
              </a:rPr>
              <a:t>llm-proxy   :9001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724912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8FAFC"/>
                </a:solidFill>
                <a:latin typeface="PingFang SC"/>
              </a:rPr>
              <a:t>mcp-proxy   :8080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785615"/>
            <a:ext cx="2944368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94A3B8"/>
                </a:solidFill>
                <a:latin typeface="PingFang SC"/>
              </a:rPr>
              <a:t>OpenAI 兼容协议 + MCP 标准协议，</a:t>
            </a:r>
          </a:p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94A3B8"/>
                </a:solidFill>
                <a:latin typeface="PingFang SC"/>
              </a:rPr>
              <a:t>统一代理外部 LLM / MCP 服务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1939" y="2852928"/>
            <a:ext cx="0" cy="274320"/>
          </a:xfrm>
          <a:prstGeom prst="line">
            <a:avLst/>
          </a:prstGeom>
          <a:ln w="20320">
            <a:solidFill>
              <a:srgbClr val="3B82F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23259" y="2862072"/>
            <a:ext cx="1737360" cy="256032"/>
          </a:xfrm>
          <a:prstGeom prst="roundRect">
            <a:avLst>
              <a:gd name="adj" fmla="val 45000"/>
            </a:avLst>
          </a:prstGeom>
          <a:solidFill>
            <a:srgbClr val="0A1128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3B82F6"/>
                </a:solidFill>
                <a:latin typeface="PingFang SC"/>
              </a:rPr>
              <a:t>Pub/Sub 任务派发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127248"/>
            <a:ext cx="6903720" cy="1234440"/>
          </a:xfrm>
          <a:prstGeom prst="roundRect">
            <a:avLst>
              <a:gd name="adj" fmla="val 7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127248"/>
            <a:ext cx="82296" cy="123444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236976"/>
            <a:ext cx="6446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PingFang SC"/>
              </a:rPr>
              <a:t>执行层 · Agent 任务执行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3721607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pi-runtime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Node.js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75432" y="3721607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bwrap 沙盒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双重隔离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4751" y="3721607"/>
            <a:ext cx="2033015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Unix Socket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网络白名单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43800" y="3493008"/>
            <a:ext cx="274320" cy="0"/>
          </a:xfrm>
          <a:prstGeom prst="line">
            <a:avLst/>
          </a:prstGeom>
          <a:ln w="20320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480" y="3364991"/>
            <a:ext cx="822960" cy="256032"/>
          </a:xfrm>
          <a:prstGeom prst="roundRect">
            <a:avLst>
              <a:gd name="adj" fmla="val 45000"/>
            </a:avLst>
          </a:prstGeom>
          <a:solidFill>
            <a:srgbClr val="0A1128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A78BFA"/>
                </a:solidFill>
                <a:latin typeface="PingFang SC"/>
              </a:rPr>
              <a:t>Socket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10634472" cy="1051560"/>
          </a:xfrm>
          <a:prstGeom prst="roundRect">
            <a:avLst>
              <a:gd name="adj" fmla="val 7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029200"/>
            <a:ext cx="82296" cy="105156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38928"/>
            <a:ext cx="101772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PingFang SC"/>
              </a:rPr>
              <a:t>持久化层 · 共享状态与存储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" y="5440680"/>
            <a:ext cx="3276600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Redis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:6379 · 任务队列/流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9016" y="5440680"/>
            <a:ext cx="3276600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MongoDB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:27017 · 会话/配置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41920" y="5440680"/>
            <a:ext cx="3276600" cy="512064"/>
          </a:xfrm>
          <a:prstGeom prst="roundRect">
            <a:avLst>
              <a:gd name="adj" fmla="val 22000"/>
            </a:avLst>
          </a:prstGeom>
          <a:solidFill>
            <a:srgbClr val="16214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100" b="1">
                <a:solidFill>
                  <a:srgbClr val="F8FAFC"/>
                </a:solidFill>
                <a:latin typeface="PingFang SC"/>
              </a:rPr>
              <a:t>NFS</a:t>
            </a:r>
          </a:p>
          <a:p>
            <a:pPr algn="ctr"/>
            <a:r>
              <a:rPr sz="880" b="0">
                <a:solidFill>
                  <a:srgbClr val="94A3B8"/>
                </a:solidFill>
                <a:latin typeface="PingFang SC"/>
              </a:rPr>
              <a:t>共享会话工作目录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11680" y="4361688"/>
            <a:ext cx="0" cy="667512"/>
          </a:xfrm>
          <a:prstGeom prst="line">
            <a:avLst/>
          </a:prstGeom>
          <a:ln w="1778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114800" y="4361688"/>
            <a:ext cx="0" cy="667512"/>
          </a:xfrm>
          <a:prstGeom prst="line">
            <a:avLst/>
          </a:prstGeom>
          <a:ln w="1778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423160" y="4567428"/>
            <a:ext cx="1280160" cy="256032"/>
          </a:xfrm>
          <a:prstGeom prst="roundRect">
            <a:avLst>
              <a:gd name="adj" fmla="val 45000"/>
            </a:avLst>
          </a:prstGeom>
          <a:solidFill>
            <a:srgbClr val="0A112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59E0B"/>
                </a:solidFill>
                <a:latin typeface="PingFang SC"/>
              </a:rPr>
              <a:t>read / write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" y="628192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62087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FAFC"/>
                </a:solidFill>
                <a:latin typeface="PingFang SC"/>
              </a:rPr>
              <a:t>接口层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2224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只派发不执行</a:t>
            </a:r>
          </a:p>
        </p:txBody>
      </p:sp>
      <p:sp>
        <p:nvSpPr>
          <p:cNvPr id="43" name="Oval 42"/>
          <p:cNvSpPr/>
          <p:nvPr/>
        </p:nvSpPr>
        <p:spPr>
          <a:xfrm>
            <a:off x="3401568" y="628192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62087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FAFC"/>
                </a:solidFill>
                <a:latin typeface="PingFang SC"/>
              </a:rPr>
              <a:t>执行层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2224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只执行不联网</a:t>
            </a:r>
          </a:p>
        </p:txBody>
      </p:sp>
      <p:sp>
        <p:nvSpPr>
          <p:cNvPr id="46" name="Oval 45"/>
          <p:cNvSpPr/>
          <p:nvPr/>
        </p:nvSpPr>
        <p:spPr>
          <a:xfrm>
            <a:off x="6144768" y="6281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62087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FAFC"/>
                </a:solidFill>
                <a:latin typeface="PingFang SC"/>
              </a:rPr>
              <a:t>持久化层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2224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共享基础设施</a:t>
            </a:r>
          </a:p>
        </p:txBody>
      </p:sp>
      <p:sp>
        <p:nvSpPr>
          <p:cNvPr id="49" name="Oval 48"/>
          <p:cNvSpPr/>
          <p:nvPr/>
        </p:nvSpPr>
        <p:spPr>
          <a:xfrm>
            <a:off x="8887967" y="628192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0848" y="62087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8FAFC"/>
                </a:solidFill>
                <a:latin typeface="PingFang SC"/>
              </a:rPr>
              <a:t>扩展层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2224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标准协议代理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venir Next"/>
              </a:rPr>
              <a:t>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8FAFC"/>
                </a:solidFill>
                <a:latin typeface="PingFang SC"/>
              </a:rPr>
              <a:t>协作时序 · 发送消息 · 流式回复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PingFang SC"/>
              </a:rPr>
              <a:t>消息队列削峰解耦 + Redis Stream 增量输出，支持断线重连与历史回放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2700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Pi Agent Platform · 多租户 Agent 执行平台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03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080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/>
              </a:rPr>
              <a:t>用户层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Avenir Next"/>
              </a:rP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2148840"/>
            <a:ext cx="0" cy="4114800"/>
          </a:xfrm>
          <a:prstGeom prst="line">
            <a:avLst/>
          </a:prstGeom>
          <a:ln w="12700">
            <a:solidFill>
              <a:srgbClr val="2A35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97480" y="169164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080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/>
              </a:rPr>
              <a:t>接口层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Avenir Next"/>
              </a:rPr>
              <a:t>gateway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2148840"/>
            <a:ext cx="0" cy="4114800"/>
          </a:xfrm>
          <a:prstGeom prst="line">
            <a:avLst/>
          </a:prstGeom>
          <a:ln w="12700">
            <a:solidFill>
              <a:srgbClr val="2A35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59" y="169164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080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/>
              </a:rPr>
              <a:t>持久化层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Avenir Next"/>
              </a:rPr>
              <a:t>Redis / Mongo / NFS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148840"/>
            <a:ext cx="0" cy="4114800"/>
          </a:xfrm>
          <a:prstGeom prst="line">
            <a:avLst/>
          </a:prstGeom>
          <a:ln w="12700">
            <a:solidFill>
              <a:srgbClr val="2A35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23759" y="169164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1397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080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/>
              </a:rPr>
              <a:t>执行层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Avenir Next"/>
              </a:rPr>
              <a:t>bwrap · pi-runtime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2440" y="2148840"/>
            <a:ext cx="0" cy="4114800"/>
          </a:xfrm>
          <a:prstGeom prst="line">
            <a:avLst/>
          </a:prstGeom>
          <a:ln w="12700">
            <a:solidFill>
              <a:srgbClr val="2A35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69164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5080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PingFang SC"/>
              </a:rPr>
              <a:t>扩展层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Avenir Next"/>
              </a:rPr>
              <a:t>llm / mcp-proxy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95560" y="2148840"/>
            <a:ext cx="0" cy="4114800"/>
          </a:xfrm>
          <a:prstGeom prst="line">
            <a:avLst/>
          </a:prstGeom>
          <a:ln w="12700">
            <a:solidFill>
              <a:srgbClr val="2A35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17320" y="2395728"/>
            <a:ext cx="2148840" cy="0"/>
          </a:xfrm>
          <a:prstGeom prst="line">
            <a:avLst/>
          </a:prstGeom>
          <a:ln w="20320">
            <a:solidFill>
              <a:srgbClr val="3B82F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50492" y="2130552"/>
            <a:ext cx="16824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POST /sessions</a:t>
            </a:r>
          </a:p>
        </p:txBody>
      </p:sp>
      <p:sp>
        <p:nvSpPr>
          <p:cNvPr id="21" name="Oval 20"/>
          <p:cNvSpPr/>
          <p:nvPr/>
        </p:nvSpPr>
        <p:spPr>
          <a:xfrm>
            <a:off x="1444751" y="2295144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1" y="22951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66160" y="2738628"/>
            <a:ext cx="2240280" cy="0"/>
          </a:xfrm>
          <a:prstGeom prst="line">
            <a:avLst/>
          </a:prstGeom>
          <a:ln w="2032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92424" y="2473452"/>
            <a:ext cx="25877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Write session · MongoDB</a:t>
            </a:r>
          </a:p>
        </p:txBody>
      </p:sp>
      <p:sp>
        <p:nvSpPr>
          <p:cNvPr id="25" name="Oval 24"/>
          <p:cNvSpPr/>
          <p:nvPr/>
        </p:nvSpPr>
        <p:spPr>
          <a:xfrm>
            <a:off x="3593592" y="263804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26380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3081528"/>
            <a:ext cx="2240280" cy="0"/>
          </a:xfrm>
          <a:prstGeom prst="line">
            <a:avLst/>
          </a:prstGeom>
          <a:ln w="2032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43300" y="281635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PUBLISH task · Redis</a:t>
            </a:r>
          </a:p>
        </p:txBody>
      </p:sp>
      <p:sp>
        <p:nvSpPr>
          <p:cNvPr id="29" name="Oval 28"/>
          <p:cNvSpPr/>
          <p:nvPr/>
        </p:nvSpPr>
        <p:spPr>
          <a:xfrm>
            <a:off x="3593592" y="298094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29809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06440" y="3424428"/>
            <a:ext cx="2286000" cy="0"/>
          </a:xfrm>
          <a:prstGeom prst="line">
            <a:avLst/>
          </a:prstGeom>
          <a:ln w="20320">
            <a:solidFill>
              <a:srgbClr val="14B8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08775" y="3159252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deliver task</a:t>
            </a:r>
          </a:p>
        </p:txBody>
      </p:sp>
      <p:sp>
        <p:nvSpPr>
          <p:cNvPr id="33" name="Oval 32"/>
          <p:cNvSpPr/>
          <p:nvPr/>
        </p:nvSpPr>
        <p:spPr>
          <a:xfrm>
            <a:off x="5833871" y="3323844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1" y="33238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417320" y="3767328"/>
            <a:ext cx="2148840" cy="0"/>
          </a:xfrm>
          <a:prstGeom prst="line">
            <a:avLst/>
          </a:prstGeom>
          <a:ln w="1397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99616" y="3502152"/>
            <a:ext cx="1984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PingFang SC"/>
              </a:rPr>
              <a:t>session（响应，会话已创建）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806440" y="4110228"/>
            <a:ext cx="2286000" cy="0"/>
          </a:xfrm>
          <a:prstGeom prst="line">
            <a:avLst/>
          </a:prstGeom>
          <a:ln w="20320">
            <a:solidFill>
              <a:srgbClr val="14B8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53812" y="3845052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Read · MongoDB / NFS（拉取会话上下文）</a:t>
            </a:r>
          </a:p>
        </p:txBody>
      </p:sp>
      <p:sp>
        <p:nvSpPr>
          <p:cNvPr id="39" name="Oval 38"/>
          <p:cNvSpPr/>
          <p:nvPr/>
        </p:nvSpPr>
        <p:spPr>
          <a:xfrm>
            <a:off x="7863840" y="4009644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0096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17320" y="4453128"/>
            <a:ext cx="2148840" cy="0"/>
          </a:xfrm>
          <a:prstGeom prst="line">
            <a:avLst/>
          </a:prstGeom>
          <a:ln w="20320">
            <a:solidFill>
              <a:srgbClr val="3B82F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01368" y="4187952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SSE /stream</a:t>
            </a:r>
          </a:p>
        </p:txBody>
      </p:sp>
      <p:sp>
        <p:nvSpPr>
          <p:cNvPr id="43" name="Oval 42"/>
          <p:cNvSpPr/>
          <p:nvPr/>
        </p:nvSpPr>
        <p:spPr>
          <a:xfrm>
            <a:off x="1444751" y="4352544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44751" y="43525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566160" y="4796028"/>
            <a:ext cx="2240280" cy="0"/>
          </a:xfrm>
          <a:prstGeom prst="line">
            <a:avLst/>
          </a:prstGeom>
          <a:ln w="2032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93592" y="4530852"/>
            <a:ext cx="2185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Read Stream · Redis</a:t>
            </a:r>
          </a:p>
        </p:txBody>
      </p:sp>
      <p:sp>
        <p:nvSpPr>
          <p:cNvPr id="47" name="Oval 46"/>
          <p:cNvSpPr/>
          <p:nvPr/>
        </p:nvSpPr>
        <p:spPr>
          <a:xfrm>
            <a:off x="3593592" y="469544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93592" y="46954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7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806440" y="5138928"/>
            <a:ext cx="2286000" cy="0"/>
          </a:xfrm>
          <a:prstGeom prst="line">
            <a:avLst/>
          </a:prstGeom>
          <a:ln w="20320">
            <a:solidFill>
              <a:srgbClr val="14B8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55564" y="4873752"/>
            <a:ext cx="25877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push token/工具事件 · Redis</a:t>
            </a:r>
          </a:p>
        </p:txBody>
      </p:sp>
      <p:sp>
        <p:nvSpPr>
          <p:cNvPr id="51" name="Oval 50"/>
          <p:cNvSpPr/>
          <p:nvPr/>
        </p:nvSpPr>
        <p:spPr>
          <a:xfrm>
            <a:off x="7863840" y="5038344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50383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8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3566160" y="5481828"/>
            <a:ext cx="2240280" cy="0"/>
          </a:xfrm>
          <a:prstGeom prst="line">
            <a:avLst/>
          </a:prstGeom>
          <a:ln w="1397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895344" y="5216652"/>
            <a:ext cx="15819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PingFang SC"/>
              </a:rPr>
              <a:t>token（增量流式返回）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092440" y="5824728"/>
            <a:ext cx="2103120" cy="0"/>
          </a:xfrm>
          <a:prstGeom prst="line">
            <a:avLst/>
          </a:prstGeom>
          <a:ln w="20320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99248" y="5559552"/>
            <a:ext cx="2889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8FAFC"/>
                </a:solidFill>
                <a:latin typeface="PingFang SC"/>
              </a:rPr>
              <a:t>Unix Socket → 外部 LLM / MCP</a:t>
            </a:r>
          </a:p>
        </p:txBody>
      </p:sp>
      <p:sp>
        <p:nvSpPr>
          <p:cNvPr id="57" name="Oval 56"/>
          <p:cNvSpPr/>
          <p:nvPr/>
        </p:nvSpPr>
        <p:spPr>
          <a:xfrm>
            <a:off x="8119872" y="5724144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9872" y="5724144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A1128"/>
                </a:solidFill>
                <a:latin typeface="PingFang SC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2004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4748B"/>
                </a:solidFill>
                <a:latin typeface="PingFang SC"/>
              </a:rPr>
              <a:t>为会话创建独立 bwrap 沙盒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989320"/>
            <a:ext cx="10908792" cy="365760"/>
          </a:xfrm>
          <a:prstGeom prst="roundRect">
            <a:avLst>
              <a:gd name="adj" fmla="val 20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断线重连：Redis Stream 消息 ID 单调递增，客户端携带上次接收 ID 续传；历史事件持久化于 MongoDB，重连时先回放快照再订阅增量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venir Next"/>
              </a:rPr>
              <a:t>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8FAFC"/>
                </a:solidFill>
                <a:latin typeface="PingFang SC"/>
              </a:rPr>
              <a:t>页面精简交互 · 3 页覆盖全部能力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PingFang SC"/>
              </a:rPr>
              <a:t>对话与配置解耦，但触达路径最短：Chat 内命令唤起、Admin 内 Tab 切换、History 集中管理身份与会话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2700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Pi Agent Platform · 多租户 Agent 执行平台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04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364992" cy="3383280"/>
          </a:xfrm>
          <a:prstGeom prst="roundRect">
            <a:avLst>
              <a:gd name="adj" fmla="val 45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364992" cy="365760"/>
          </a:xfrm>
          <a:prstGeom prst="roundRect">
            <a:avLst>
              <a:gd name="adj" fmla="val 45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099" y="1924812"/>
            <a:ext cx="82296" cy="82296"/>
          </a:xfrm>
          <a:prstGeom prst="ellipse">
            <a:avLst/>
          </a:prstGeom>
          <a:solidFill>
            <a:srgbClr val="F4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2980" y="19248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" y="1924812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56231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94A3B8"/>
                </a:solidFill>
                <a:latin typeface="PingFang SC"/>
              </a:rPr>
              <a:t>Chat · 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364992" cy="4572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2313432"/>
            <a:ext cx="1920240" cy="384048"/>
          </a:xfrm>
          <a:prstGeom prst="roundRect">
            <a:avLst>
              <a:gd name="adj" fmla="val 4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13432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帮我查一下…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17904" y="2862072"/>
            <a:ext cx="2286000" cy="5029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82496" y="2862072"/>
            <a:ext cx="19568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8FAFC"/>
                </a:solidFill>
                <a:latin typeface="PingFang SC"/>
              </a:rPr>
              <a:t>好的，我先检索知识库…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7" y="3639312"/>
            <a:ext cx="2962656" cy="457200"/>
          </a:xfrm>
          <a:prstGeom prst="roundRect">
            <a:avLst>
              <a:gd name="adj" fmla="val 35000"/>
            </a:avLst>
          </a:prstGeom>
          <a:solidFill>
            <a:srgbClr val="162148"/>
          </a:solidFill>
          <a:ln w="9525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PingFang SC"/>
              </a:rPr>
              <a:t>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2706624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121B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277977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FAFC"/>
                </a:solidFill>
                <a:latin typeface="PingFang SC"/>
              </a:rPr>
              <a:t>/knowledge-qa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3580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/web-research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29184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PingFang SC"/>
              </a:rPr>
              <a:t>↑↓ 选择 · Enter 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782312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"/" 唤起 Skill 选择菜单，选中后直接发消息，无需跳转页面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1783080"/>
            <a:ext cx="3364992" cy="3383280"/>
          </a:xfrm>
          <a:prstGeom prst="roundRect">
            <a:avLst>
              <a:gd name="adj" fmla="val 45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1104" y="1783080"/>
            <a:ext cx="3364992" cy="365760"/>
          </a:xfrm>
          <a:prstGeom prst="roundRect">
            <a:avLst>
              <a:gd name="adj" fmla="val 45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21124" y="1924812"/>
            <a:ext cx="82296" cy="82296"/>
          </a:xfrm>
          <a:prstGeom prst="ellipse">
            <a:avLst/>
          </a:prstGeom>
          <a:solidFill>
            <a:srgbClr val="F4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4004" y="19248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86884" y="1924812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1104" y="1856231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94A3B8"/>
                </a:solidFill>
                <a:latin typeface="PingFang SC"/>
              </a:rPr>
              <a:t>Admin · 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1783080"/>
            <a:ext cx="3364992" cy="4572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62272" y="2295144"/>
            <a:ext cx="580644" cy="329184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94A3B8"/>
                </a:solidFill>
                <a:latin typeface="PingFang SC"/>
              </a:rPr>
              <a:t>LLM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16068" y="2295144"/>
            <a:ext cx="580644" cy="32918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A1128"/>
                </a:solidFill>
                <a:latin typeface="PingFang SC"/>
              </a:rPr>
              <a:t>MCP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9864" y="2295144"/>
            <a:ext cx="772668" cy="329184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94A3B8"/>
                </a:solidFill>
                <a:latin typeface="PingFang SC"/>
              </a:rPr>
              <a:t>Skill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15683" y="2295144"/>
            <a:ext cx="782269" cy="329184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94A3B8"/>
                </a:solidFill>
                <a:latin typeface="PingFang SC"/>
              </a:rPr>
              <a:t>知识库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62272" y="2798063"/>
            <a:ext cx="2962656" cy="1783080"/>
          </a:xfrm>
          <a:prstGeom prst="roundRect">
            <a:avLst>
              <a:gd name="adj" fmla="val 8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90288" y="2953511"/>
            <a:ext cx="2706624" cy="329184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635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00016" y="3081527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2953511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8FAFC"/>
                </a:solidFill>
                <a:latin typeface="PingFang SC"/>
              </a:rPr>
              <a:t>mrag · 知识库检索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90288" y="3392423"/>
            <a:ext cx="2706624" cy="329184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635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00016" y="3520439"/>
            <a:ext cx="73152" cy="7315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3392423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8FAFC"/>
                </a:solidFill>
                <a:latin typeface="PingFang SC"/>
              </a:rPr>
              <a:t>tavily · 网络搜索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90288" y="3831335"/>
            <a:ext cx="2706624" cy="329184"/>
          </a:xfrm>
          <a:prstGeom prst="roundRect">
            <a:avLst>
              <a:gd name="adj" fmla="val 15000"/>
            </a:avLst>
          </a:prstGeom>
          <a:solidFill>
            <a:srgbClr val="121B3D"/>
          </a:solidFill>
          <a:ln w="635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00016" y="3959351"/>
            <a:ext cx="73152" cy="7315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831335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8FAFC"/>
                </a:solidFill>
                <a:latin typeface="PingFang SC"/>
              </a:rPr>
              <a:t>系统 MCP · 只读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2272" y="4782312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四大配置模块（LLM/MCP/Skill/Knowledge）同页 Tab 切换，不跳转不刷新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82127" y="1783080"/>
            <a:ext cx="3364992" cy="3383280"/>
          </a:xfrm>
          <a:prstGeom prst="roundRect">
            <a:avLst>
              <a:gd name="adj" fmla="val 45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82127" y="1783080"/>
            <a:ext cx="3364992" cy="365760"/>
          </a:xfrm>
          <a:prstGeom prst="roundRect">
            <a:avLst>
              <a:gd name="adj" fmla="val 45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42148" y="1924812"/>
            <a:ext cx="82296" cy="82296"/>
          </a:xfrm>
          <a:prstGeom prst="ellipse">
            <a:avLst/>
          </a:prstGeom>
          <a:solidFill>
            <a:srgbClr val="F4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25027" y="19248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07908" y="1924812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2127" y="1856231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94A3B8"/>
                </a:solidFill>
                <a:latin typeface="PingFang SC"/>
              </a:rPr>
              <a:t>History · 历史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127" y="1783080"/>
            <a:ext cx="3364992" cy="4572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83296" y="2295144"/>
            <a:ext cx="2962656" cy="384048"/>
          </a:xfrm>
          <a:prstGeom prst="roundRect">
            <a:avLst>
              <a:gd name="adj" fmla="val 30000"/>
            </a:avLst>
          </a:prstGeom>
          <a:solidFill>
            <a:srgbClr val="16214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47888" y="2295144"/>
            <a:ext cx="26334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8FAFC"/>
                </a:solidFill>
                <a:latin typeface="PingFang SC"/>
              </a:rPr>
              <a:t>用户 ID：12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83296" y="2843784"/>
            <a:ext cx="2962656" cy="420624"/>
          </a:xfrm>
          <a:prstGeom prst="roundRect">
            <a:avLst>
              <a:gd name="adj" fmla="val 12000"/>
            </a:avLst>
          </a:prstGeom>
          <a:solidFill>
            <a:srgbClr val="16214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11311" y="2871215"/>
            <a:ext cx="20848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FAFC"/>
                </a:solidFill>
                <a:latin typeface="PingFang SC"/>
              </a:rPr>
              <a:t>知识库检索调优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1" y="3063239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PingFang SC"/>
              </a:rPr>
              <a:t>3 分钟前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31551" y="293522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34D399"/>
                </a:solidFill>
                <a:latin typeface="PingFang SC"/>
              </a:rPr>
              <a:t>进行中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83296" y="3346704"/>
            <a:ext cx="2962656" cy="420624"/>
          </a:xfrm>
          <a:prstGeom prst="roundRect">
            <a:avLst>
              <a:gd name="adj" fmla="val 12000"/>
            </a:avLst>
          </a:prstGeom>
          <a:solidFill>
            <a:srgbClr val="121B3D"/>
          </a:solidFill>
          <a:ln w="635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11311" y="3374136"/>
            <a:ext cx="20848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8FAFC"/>
                </a:solidFill>
                <a:latin typeface="PingFang SC"/>
              </a:rPr>
              <a:t>联网搜索天气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1311" y="3566160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PingFang SC"/>
              </a:rPr>
              <a:t>3 分钟前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31551" y="343814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94A3B8"/>
                </a:solidFill>
                <a:latin typeface="PingFang SC"/>
              </a:rPr>
              <a:t>已完成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83296" y="3849624"/>
            <a:ext cx="2962656" cy="420624"/>
          </a:xfrm>
          <a:prstGeom prst="roundRect">
            <a:avLst>
              <a:gd name="adj" fmla="val 12000"/>
            </a:avLst>
          </a:prstGeom>
          <a:solidFill>
            <a:srgbClr val="121B3D"/>
          </a:solidFill>
          <a:ln w="635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11311" y="3877056"/>
            <a:ext cx="20848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8FAFC"/>
                </a:solidFill>
                <a:latin typeface="PingFang SC"/>
              </a:rPr>
              <a:t>Skill 创建向导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11311" y="4069080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PingFang SC"/>
              </a:rPr>
              <a:t>3 分钟前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31551" y="3941063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94A3B8"/>
                </a:solidFill>
                <a:latin typeface="PingFang SC"/>
              </a:rPr>
              <a:t>已完成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83296" y="4782312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集中管理用户身份与历史会话，点击即续聊，断线可续传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5989320"/>
            <a:ext cx="3514344" cy="365760"/>
          </a:xfrm>
          <a:prstGeom prst="roundRect">
            <a:avLst>
              <a:gd name="adj" fmla="val 25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7" y="5989320"/>
            <a:ext cx="3148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✓  3 个页面覆盖全部能力，认知负担低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37304" y="5989320"/>
            <a:ext cx="3514344" cy="365760"/>
          </a:xfrm>
          <a:prstGeom prst="roundRect">
            <a:avLst>
              <a:gd name="adj" fmla="val 25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38472" y="5989320"/>
            <a:ext cx="3148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✓  配置 4 模块同页 Tab 切换，不打断上下文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34527" y="5989320"/>
            <a:ext cx="3514344" cy="365760"/>
          </a:xfrm>
          <a:prstGeom prst="roundRect">
            <a:avLst>
              <a:gd name="adj" fmla="val 25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35695" y="5989320"/>
            <a:ext cx="3148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✓  "/" 命令内联唤起 Skill，对话即配置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venir Next"/>
              </a:rPr>
              <a:t>MCP ×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8FAFC"/>
                </a:solidFill>
                <a:latin typeface="PingFang SC"/>
              </a:rPr>
              <a:t>MCP + Skill 协作机制 · 渐进式披露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PingFang SC"/>
              </a:rPr>
              <a:t>Skill 声明工具白名单，会话按需过滤 MCP 工具集，兼顾能力扩展与最小权限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2700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2A3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Pi Agent Platform · 多租户 Agent 执行平台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PingFang SC"/>
              </a:rPr>
              <a:t>05 /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8FAFC"/>
                </a:solidFill>
                <a:latin typeface="PingFang SC"/>
              </a:rPr>
              <a:t>协作机制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6309360" cy="658368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276856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A1128"/>
                </a:solidFill>
                <a:latin typeface="Avenir N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2176272"/>
            <a:ext cx="5522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8FAFC"/>
                </a:solidFill>
                <a:latin typeface="PingFang SC"/>
              </a:rPr>
              <a:t>Skill 声明白名单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2432303"/>
            <a:ext cx="55229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Skill 元数据中声明 mcp_servers 字段（global / user 作用域）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" y="2761487"/>
            <a:ext cx="0" cy="9144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2852927"/>
            <a:ext cx="6309360" cy="658368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3026663"/>
            <a:ext cx="310896" cy="31089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A1128"/>
                </a:solidFill>
                <a:latin typeface="Avenir Nex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2926079"/>
            <a:ext cx="5522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8FAFC"/>
                </a:solidFill>
                <a:latin typeface="PingFang SC"/>
              </a:rPr>
              <a:t>对话内选中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3182111"/>
            <a:ext cx="55229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用户在 Chat 输入框用 "/" 选中 Skill 后发送消息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" y="3511296"/>
            <a:ext cx="0" cy="9144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602735"/>
            <a:ext cx="6309360" cy="658368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8" y="377647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A1128"/>
                </a:solidFill>
                <a:latin typeface="Avenir Nex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3675887"/>
            <a:ext cx="5522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8FAFC"/>
                </a:solidFill>
                <a:latin typeface="PingFang SC"/>
              </a:rPr>
              <a:t>按会话解析合并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3931920"/>
            <a:ext cx="55229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创建会话时按 skill_ids 查询并合并各 Skill 的 mcp_servers 白名单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" y="4261103"/>
            <a:ext cx="0" cy="9144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352544"/>
            <a:ext cx="6309360" cy="658368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" y="4526280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A1128"/>
                </a:solidFill>
                <a:latin typeface="Avenir Nex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" y="4425696"/>
            <a:ext cx="5522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8FAFC"/>
                </a:solidFill>
                <a:latin typeface="PingFang SC"/>
              </a:rPr>
              <a:t>请求头透传过滤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81728"/>
            <a:ext cx="55229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session-mcp-bridge 为该会话的 Unix Socket 请求注入 X-User-Id / X-Mcp-Servers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0976" y="5010912"/>
            <a:ext cx="0" cy="91439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" y="5102352"/>
            <a:ext cx="6309360" cy="658368"/>
          </a:xfrm>
          <a:prstGeom prst="roundRect">
            <a:avLst>
              <a:gd name="adj" fmla="val 9000"/>
            </a:avLst>
          </a:prstGeom>
          <a:solidFill>
            <a:srgbClr val="121B3D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5276088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A1128"/>
                </a:solidFill>
                <a:latin typeface="Avenir Nex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5" y="5175504"/>
            <a:ext cx="5522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8FAFC"/>
                </a:solidFill>
                <a:latin typeface="PingFang SC"/>
              </a:rPr>
              <a:t>mcp-proxy 按白名单过滤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5" y="5431536"/>
            <a:ext cx="55229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4A3B8"/>
                </a:solidFill>
                <a:latin typeface="PingFang SC"/>
              </a:rPr>
              <a:t>唯一入口 mcp-proxy 按白名单过滤工具列表，Agent 只看到被授权的工具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888736"/>
            <a:ext cx="6309360" cy="365760"/>
          </a:xfrm>
          <a:prstGeom prst="roundRect">
            <a:avLst>
              <a:gd name="adj" fmla="val 20000"/>
            </a:avLst>
          </a:prstGeom>
          <a:solidFill>
            <a:srgbClr val="162148"/>
          </a:solidFill>
          <a:ln w="12700">
            <a:solidFill>
              <a:srgbClr val="2A3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888736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PingFang SC"/>
              </a:rPr>
              <a:t>未选 Skill 时不过滤，加载用户已启用的全部 MCP → 灵活与最小权限并存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80" y="1755648"/>
            <a:ext cx="4279392" cy="4434840"/>
          </a:xfrm>
          <a:prstGeom prst="roundRect">
            <a:avLst>
              <a:gd name="adj" fmla="val 7000"/>
            </a:avLst>
          </a:prstGeom>
          <a:solidFill>
            <a:srgbClr val="121B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69480" y="1755648"/>
            <a:ext cx="4279392" cy="73152"/>
          </a:xfrm>
          <a:prstGeom prst="roundRect">
            <a:avLst>
              <a:gd name="adj" fmla="val 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88936" y="19385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F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34D399"/>
                </a:solidFill>
                <a:latin typeface="PingFang SC"/>
              </a:rPr>
              <a:t>实验产品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340864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PingFang SC"/>
              </a:rPr>
              <a:t>用户 12 · 双 MCP 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8936" y="2761488"/>
            <a:ext cx="3822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4A3B8"/>
                </a:solidFill>
                <a:latin typeface="PingFang SC"/>
              </a:rPr>
              <a:t>作为 MCP + Skill 协作机制的首个实验用户，在"我的 MCP"中接入两个个人 MCP 服务：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88936" y="3310128"/>
            <a:ext cx="3840480" cy="868680"/>
          </a:xfrm>
          <a:prstGeom prst="roundRect">
            <a:avLst>
              <a:gd name="adj" fmla="val 9000"/>
            </a:avLst>
          </a:prstGeom>
          <a:solidFill>
            <a:srgbClr val="162148"/>
          </a:solidFill>
          <a:ln w="1143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71815" y="34930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54696" y="3401568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Avenir Next"/>
              </a:rPr>
              <a:t>mrag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34015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2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3B82F6"/>
                </a:solidFill>
                <a:latin typeface="PingFang SC"/>
              </a:rPr>
              <a:t>个人知识库检索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12464"/>
            <a:ext cx="354787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i="0">
                <a:solidFill>
                  <a:srgbClr val="94A3B8"/>
                </a:solidFill>
                <a:latin typeface="PingFang SC"/>
              </a:rPr>
              <a:t>对接知识库管理面板的 mRAG 服务，语义检索私有知识库文档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88936" y="4297680"/>
            <a:ext cx="3840480" cy="868680"/>
          </a:xfrm>
          <a:prstGeom prst="roundRect">
            <a:avLst>
              <a:gd name="adj" fmla="val 9000"/>
            </a:avLst>
          </a:prstGeom>
          <a:solidFill>
            <a:srgbClr val="162148"/>
          </a:solidFill>
          <a:ln w="1143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71815" y="44805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54696" y="4389120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Avenir Next"/>
              </a:rPr>
              <a:t>tavily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43891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2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A78BFA"/>
                </a:solidFill>
                <a:latin typeface="PingFang SC"/>
              </a:rPr>
              <a:t>联网信息搜索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4700016"/>
            <a:ext cx="354787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i="0">
                <a:solidFill>
                  <a:srgbClr val="94A3B8"/>
                </a:solidFill>
                <a:latin typeface="PingFang SC"/>
              </a:rPr>
              <a:t>实时网络搜索类 MCP，补充模型知识边界之外的最新信息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88936" y="53309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F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71816" y="5431536"/>
            <a:ext cx="34930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PingFang SC"/>
              </a:rPr>
              <a:t>验证结论：为不同场景创建专属 Skill 并声明各自白名单后，Agent 能精确加载所需工具、不越权访问未授权 MCP，证明"渐进式披露 + 最小权限"在真实个人工具接入场景下可落地。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